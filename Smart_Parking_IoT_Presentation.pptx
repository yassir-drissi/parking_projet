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9680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</a:rPr>
              <a:t>EMSI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Smart Parking IoT System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2C39A"/>
                </a:solidFill>
              </a:rPr>
              <a:t>Système de Gestion de Parking Intelligent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F2F2"/>
                </a:solidFill>
              </a:rPr>
              <a:t>ESP32 | MQTT | HiveMQ | MongoDB | Redis | Docker | RAG-LLM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374904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Réalisé par :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DRISSI Yassir • BOUSHABI Othmane • DHILOU Othmane • DBAB Mohamed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Encadrant : </a:t>
            </a:r>
            <a:r>
              <a:rPr lang="en-US" sz="1200" dirty="0">
                <a:solidFill>
                  <a:srgbClr val="FFFFFF"/>
                </a:solidFill>
              </a:rPr>
              <a:t>DEROUSSI Anass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9E795"/>
                </a:solidFill>
              </a:rPr>
              <a:t>Année académique 2025-2026 | 4ème Année S8</a:t>
            </a:r>
            <a:endParaRPr lang="en-US" sz="12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ABB17CF-8090-1863-37F6-8C93DC807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5719"/>
            <a:ext cx="2143125" cy="133357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19CE370-8C17-2471-D475-D0516C0060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090" y="0"/>
            <a:ext cx="2349910" cy="11087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Sommaire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800" dirty="0">
                <a:solidFill>
                  <a:srgbClr val="21295C"/>
                </a:solidFill>
              </a:rPr>
              <a:t>1. Contexte et Objectifs</a:t>
            </a:r>
            <a:endParaRPr lang="en-US" sz="1800" dirty="0"/>
          </a:p>
          <a:p>
            <a:pPr marL="342900" indent="-342900">
              <a:buSzPct val="100000"/>
              <a:buChar char="▪"/>
            </a:pPr>
            <a:r>
              <a:rPr lang="en-US" sz="1800" dirty="0">
                <a:solidFill>
                  <a:srgbClr val="21295C"/>
                </a:solidFill>
              </a:rPr>
              <a:t>2. Architecture Globale</a:t>
            </a:r>
            <a:endParaRPr lang="en-US" sz="1800" dirty="0"/>
          </a:p>
          <a:p>
            <a:pPr marL="342900" indent="-342900">
              <a:buSzPct val="100000"/>
              <a:buChar char="▪"/>
            </a:pPr>
            <a:r>
              <a:rPr lang="en-US" sz="1800" dirty="0">
                <a:solidFill>
                  <a:srgbClr val="21295C"/>
                </a:solidFill>
              </a:rPr>
              <a:t>3. Conception Matérielle</a:t>
            </a:r>
            <a:endParaRPr lang="en-US" sz="1800" dirty="0"/>
          </a:p>
          <a:p>
            <a:pPr marL="342900" indent="-342900">
              <a:buSzPct val="100000"/>
              <a:buChar char="▪"/>
            </a:pPr>
            <a:r>
              <a:rPr lang="en-US" sz="1800" dirty="0">
                <a:solidFill>
                  <a:srgbClr val="21295C"/>
                </a:solidFill>
              </a:rPr>
              <a:t>4. Firmware ESP32</a:t>
            </a:r>
            <a:endParaRPr lang="en-US" sz="1800" dirty="0"/>
          </a:p>
          <a:p>
            <a:pPr marL="342900" indent="-342900">
              <a:buSzPct val="100000"/>
              <a:buChar char="▪"/>
            </a:pPr>
            <a:r>
              <a:rPr lang="en-US" sz="1800" dirty="0">
                <a:solidFill>
                  <a:srgbClr val="21295C"/>
                </a:solidFill>
              </a:rPr>
              <a:t>5. Communication MQTT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54880" y="137160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▪"/>
            </a:pPr>
            <a:r>
              <a:rPr lang="en-US" sz="1800" dirty="0">
                <a:solidFill>
                  <a:srgbClr val="21295C"/>
                </a:solidFill>
              </a:rPr>
              <a:t>6. Backend Docker</a:t>
            </a:r>
            <a:endParaRPr lang="en-US" sz="1800" dirty="0"/>
          </a:p>
          <a:p>
            <a:pPr marL="342900" indent="-342900">
              <a:buSzPct val="100000"/>
              <a:buChar char="▪"/>
            </a:pPr>
            <a:r>
              <a:rPr lang="en-US" sz="1800" dirty="0">
                <a:solidFill>
                  <a:srgbClr val="21295C"/>
                </a:solidFill>
              </a:rPr>
              <a:t>7. Dashboard Web</a:t>
            </a:r>
            <a:endParaRPr lang="en-US" sz="1800" dirty="0"/>
          </a:p>
          <a:p>
            <a:pPr marL="342900" indent="-342900">
              <a:buSzPct val="100000"/>
              <a:buChar char="▪"/>
            </a:pPr>
            <a:r>
              <a:rPr lang="en-US" sz="1800" dirty="0">
                <a:solidFill>
                  <a:srgbClr val="21295C"/>
                </a:solidFill>
              </a:rPr>
              <a:t>8. Intégration RAG-LLM</a:t>
            </a:r>
            <a:endParaRPr lang="en-US" sz="1800" dirty="0"/>
          </a:p>
          <a:p>
            <a:pPr marL="342900" indent="-342900">
              <a:buSzPct val="100000"/>
              <a:buChar char="▪"/>
            </a:pPr>
            <a:r>
              <a:rPr lang="en-US" sz="1800" dirty="0">
                <a:solidFill>
                  <a:srgbClr val="21295C"/>
                </a:solidFill>
              </a:rPr>
              <a:t>9. Conclusion</a:t>
            </a:r>
            <a:endParaRPr lang="en-US" sz="1800" dirty="0"/>
          </a:p>
          <a:p>
            <a:pPr marL="342900" indent="-342900">
              <a:buSzPct val="100000"/>
              <a:buChar char="▪"/>
            </a:pPr>
            <a:r>
              <a:rPr lang="en-US" sz="1800" dirty="0">
                <a:solidFill>
                  <a:srgbClr val="21295C"/>
                </a:solidFill>
              </a:rPr>
              <a:t>10. Démonstration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Contexte du Projet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1645920"/>
          </a:xfrm>
          <a:prstGeom prst="rect">
            <a:avLst/>
          </a:prstGeom>
          <a:solidFill>
            <a:srgbClr val="F96167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Problématique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</a:rPr>
              <a:t> </a:t>
            </a:r>
            <a:endParaRPr lang="en-US" sz="22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Gestion inefficace du stationnement dans les villes et établissements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164592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37760" y="13716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Solution IoT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FFFFFF"/>
                </a:solidFill>
              </a:rPr>
              <a:t> </a:t>
            </a:r>
            <a:endParaRPr lang="en-US" sz="22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Système intelligent de détection et visualisation temps réel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</a:rPr>
              <a:t>Enjeux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56616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</a:rPr>
              <a:t>Optimisation de l'espace de stationnement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</a:rPr>
              <a:t>Réduction du temps de recherche de places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</a:rPr>
              <a:t>Amélioration de l'expérience utilisateur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1295C"/>
                </a:solidFill>
              </a:rPr>
              <a:t>Collecte de données pour analyses prédictives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Objectifs du Projet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188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95C"/>
                </a:solidFill>
              </a:rPr>
              <a:t>Détection Automatique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</a:rPr>
              <a:t>Capteurs ultrasoniques pour l'occupation des places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9377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🚧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0" y="1188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95C"/>
                </a:solidFill>
              </a:rPr>
              <a:t>Contrôle Barrière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</a:rPr>
              <a:t>Servo moteur pour gestion automatique de l'accès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80160" y="22402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95C"/>
                </a:solidFill>
              </a:rPr>
              <a:t>Transmission Temps Réel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</a:rPr>
              <a:t>Protocole MQTT pour communication IoT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0" y="22402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95C"/>
                </a:solidFill>
              </a:rPr>
              <a:t>Stockage Historique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</a:rPr>
              <a:t>MongoDB pour archivage des événements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80160" y="3291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95C"/>
                </a:solidFill>
              </a:rPr>
              <a:t>Cache Performant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</a:rPr>
              <a:t>Redis pour accès rapide aux données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486400" y="3291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95C"/>
                </a:solidFill>
              </a:rPr>
              <a:t>Visualisation Web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</a:rPr>
              <a:t>Dashboard interactif avec graphiques temps réel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0160" y="43434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1295C"/>
                </a:solidFill>
              </a:rPr>
              <a:t>IA Intégrée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</a:rPr>
              <a:t>RAG-LLM pour recommandations intelligentes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Architecture Globale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143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COUCHE TERRAIN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HC-SR04 Place 1 • HC-SR04 Place 2 • HC-SR04 Barrière • Servo SG90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822960"/>
          </a:xfrm>
          <a:prstGeom prst="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COUCHE OBJET CONNECTÉ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ESP32 DevKit • WiFi + MQTT • Arduino C++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COUCHE CLOUD / SERVICES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HiveMQ Broker • Backend Node.js • MongoDB + Redis • Dashboard HTML • RAG-LLM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2148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</a:rPr>
              <a:t>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89120" y="33375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</a:rPr>
              <a:t>↓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Stack Technologique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Hardware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</a:rPr>
              <a:t>ESP32 DevKit • HC-SR04 × 3 • Servo SG90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057400"/>
            <a:ext cx="365760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Firmware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</a:rPr>
              <a:t>Arduino C++ • WiFi • MQTT Client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365760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Communication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</a:rPr>
              <a:t>MQTT Protocol • HiveMQ Broker • WebSocket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977640"/>
            <a:ext cx="365760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Backend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34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</a:rPr>
              <a:t>Node.js • MongoDB • Redis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365760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1280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Infrastructure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</a:rPr>
              <a:t>Docker • Docker Compose • Wokwi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057400"/>
            <a:ext cx="365760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Frontend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514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</a:rPr>
              <a:t>HTML/CSS/JS • Chart.js • MQTT.js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017520"/>
            <a:ext cx="365760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Intelligence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95C"/>
                </a:solidFill>
              </a:rPr>
              <a:t>RAG-LLM • OpenRouter • Llama 3.2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Conception Matérielle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</a:rPr>
              <a:t>Composants Principaux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</a:rPr>
              <a:t>ESP32 DevKit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Dual-core 240 MHz, WiFi intégré, 520 KB RAM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</a:rPr>
              <a:t>HC-SR04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Capteur ultrasonique, mesure distance par réflexion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</a:rPr>
              <a:t>Servo SG90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Contrôle barrière via PWM 50 Hz (0° - 90°)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</a:rPr>
              <a:t>Brochage ESP32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137160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Composant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645920"/>
            <a:ext cx="137160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GPIO TRIG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0" y="1645920"/>
            <a:ext cx="137160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GPIO ECHO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9659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95C"/>
                </a:solidFill>
              </a:rPr>
              <a:t>HC-SR04 #1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9659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95C"/>
                </a:solidFill>
              </a:rPr>
              <a:t>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98080" y="196596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95C"/>
                </a:solidFill>
              </a:rPr>
              <a:t>18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286000"/>
            <a:ext cx="137160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95C"/>
                </a:solidFill>
              </a:rPr>
              <a:t>HC-SR04 #2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2286000"/>
            <a:ext cx="137160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2648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95C"/>
                </a:solidFill>
              </a:rPr>
              <a:t>19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98080" y="2286000"/>
            <a:ext cx="137160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98080" y="2286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95C"/>
                </a:solidFill>
              </a:rPr>
              <a:t>21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60604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95C"/>
                </a:solidFill>
              </a:rPr>
              <a:t>HC-SR04 #3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260604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2648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95C"/>
                </a:solidFill>
              </a:rPr>
              <a:t>23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98080" y="2606040"/>
            <a:ext cx="1371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98080" y="2606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95C"/>
                </a:solidFill>
              </a:rPr>
              <a:t>22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926080"/>
            <a:ext cx="137160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95C"/>
                </a:solidFill>
              </a:rPr>
              <a:t>Servo SG90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2926080"/>
            <a:ext cx="137160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2648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95C"/>
                </a:solidFill>
              </a:rPr>
              <a:t>27 (PWM)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98080" y="2926080"/>
            <a:ext cx="1371600" cy="32004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498080" y="2926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1295C"/>
                </a:solidFill>
              </a:rPr>
              <a:t>—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Mesure de distance :   d = (t_echo × v_son) / 2 = (t_echo × 0.034) / 2  [cm]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Développement Firmware ESP32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Structure du Code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</a:rPr>
              <a:t>Configuration WiFi et MQTT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</a:rPr>
              <a:t>Fonction readDistance()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</a:rPr>
              <a:t>Boucle loop() toutes les 3s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95C"/>
                </a:solidFill>
              </a:rPr>
              <a:t>Logique de contrôle barrière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Logique de Contrôle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657600" cy="256032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loop() {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d1 = readDistance(TRIG1, ECHO1);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d2 = readDistance(TRIG2, ECHO2);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dGate = readDistance(TRIG3, ECHO3);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status1 = (d1 &lt; 10) ? "occupied" : "free";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status2 = (d2 &lt; 10) ? "occupied" : "free";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client.publish("parking/update", msg);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((d1&gt;=10 || d2&gt;=10) &amp;&amp; dGate&lt;10)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setServoAngle(90); // OUVERT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setServoAngle(0);  // FERMÉ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Seuil de détection : 10 cm    |    Fréquence de publication : toutes les 3 secondes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Communication MQTT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Qu'est-ce que MQTT 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</a:rPr>
              <a:t>Protocole léger (overhead minimal)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</a:rPr>
              <a:t>Modèle Publish/Subscribe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</a:rPr>
              <a:t>Idéal pour connexions instables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</a:rPr>
              <a:t>Support QoS (Quality of Service)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</a:rPr>
              <a:t>Architecture découplée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Configuration HiveMQ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18288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Paramètre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1554480"/>
            <a:ext cx="182880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Valeur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95C"/>
                </a:solidFill>
              </a:rPr>
              <a:t>Broker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192024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95C"/>
                </a:solidFill>
              </a:rPr>
              <a:t>broker.hivemq.com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286000"/>
            <a:ext cx="182880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95C"/>
                </a:solidFill>
              </a:rPr>
              <a:t>Port TCP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2286000"/>
            <a:ext cx="182880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95C"/>
                </a:solidFill>
              </a:rPr>
              <a:t>1883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65176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95C"/>
                </a:solidFill>
              </a:rPr>
              <a:t>Port WebSocket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2651760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0" y="2651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95C"/>
                </a:solidFill>
              </a:rPr>
              <a:t>8884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182880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95C"/>
                </a:solidFill>
              </a:rPr>
              <a:t>Topic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0" y="3017520"/>
            <a:ext cx="182880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368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95C"/>
                </a:solidFill>
              </a:rPr>
              <a:t>parking/update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3657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Format des Messages JSON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{"placeId": 1, "status": "occupied"}      {"placeId": 2, "status": "free"}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Backend – Docker, MongoDB et Redis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</a:rPr>
              <a:t>Architecture Docker Compose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680960" cy="82296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</a:rPr>
              <a:t>parking_mongodb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</a:rPr>
              <a:t>Image: mongo:latest  •  Port: 27018:27017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1295C"/>
                </a:solidFill>
              </a:rPr>
              <a:t>Stockage persistant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7680960" cy="82296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</a:rPr>
              <a:t>parking_redis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</a:rPr>
              <a:t>Image: redis:latest  •  Port: 6379:6379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1295C"/>
                </a:solidFill>
              </a:rPr>
              <a:t>Cache temps réel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7293"/>
                </a:solidFill>
              </a:rPr>
              <a:t>parking_backend</a:t>
            </a:r>
            <a:endParaRPr lang="en-US" sz="14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</a:rPr>
              <a:t>Image: Node.js custom  •  Port: 3000:3000</a:t>
            </a:r>
            <a:endParaRPr lang="en-US" sz="14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1295C"/>
                </a:solidFill>
              </a:rPr>
              <a:t>Traitement MQTT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solidFill>
            <a:srgbClr val="2D2D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0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docker-compose up --build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Dashboard Web de Visualisation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Technologies Frontend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</a:rPr>
              <a:t>HTML5 / CSS3 / JavaScript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</a:rPr>
              <a:t>Chart.js pour graphiques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</a:rPr>
              <a:t>MQTT.js (WebSocket)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</a:rPr>
              <a:t>Connexion temps réel port 8884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Fonctionnalités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5544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</a:rPr>
              <a:t>🅿️  </a:t>
            </a:r>
            <a:r>
              <a:rPr lang="en-US" sz="1200" dirty="0">
                <a:solidFill>
                  <a:srgbClr val="21295C"/>
                </a:solidFill>
              </a:rPr>
              <a:t>État des places (LIBRE/OCCUPÉE)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920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</a:rPr>
              <a:t>🚧  </a:t>
            </a:r>
            <a:r>
              <a:rPr lang="en-US" sz="1200" dirty="0">
                <a:solidFill>
                  <a:srgbClr val="21295C"/>
                </a:solidFill>
              </a:rPr>
              <a:t>État barrière (OUVERTE/FERMÉE)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2286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</a:rPr>
              <a:t>📈  </a:t>
            </a:r>
            <a:r>
              <a:rPr lang="en-US" sz="1200" dirty="0">
                <a:solidFill>
                  <a:srgbClr val="21295C"/>
                </a:solidFill>
              </a:rPr>
              <a:t>Historique d'occupation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651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</a:rPr>
              <a:t>🍩  </a:t>
            </a:r>
            <a:r>
              <a:rPr lang="en-US" sz="1200" dirty="0">
                <a:solidFill>
                  <a:srgbClr val="21295C"/>
                </a:solidFill>
              </a:rPr>
              <a:t>Répartition actuelle (Donut)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30175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</a:rPr>
              <a:t>📝  </a:t>
            </a:r>
            <a:r>
              <a:rPr lang="en-US" sz="1200" dirty="0">
                <a:solidFill>
                  <a:srgbClr val="21295C"/>
                </a:solidFill>
              </a:rPr>
              <a:t>Log messages MQTT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33832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95C"/>
                </a:solidFill>
              </a:rPr>
              <a:t>⏱️  </a:t>
            </a:r>
            <a:r>
              <a:rPr lang="en-US" sz="1200" dirty="0">
                <a:solidFill>
                  <a:srgbClr val="21295C"/>
                </a:solidFill>
              </a:rPr>
              <a:t>Mise à jour temps réel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40233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Interface Intuitive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Visualisation claire et réactive pour une prise de décision rapide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Intégration RAG-LLM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RAG (Retrieval-Augmented Generation)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1295C"/>
                </a:solidFill>
              </a:rPr>
              <a:t>Architecture permettant des recommandations intelligentes basées sur les données historiques du parking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828800" cy="1188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Extraction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MongoDB : 20 dernières entrées + taux d'occupation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2286000"/>
            <a:ext cx="1828800" cy="1188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834640" y="27889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Formatage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Contexte structuré en texte naturel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1828800" cy="1188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27889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Requête API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OpenRouter + Llama 3.2 (3B instruct)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2286000"/>
            <a:ext cx="1828800" cy="1188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858000" y="278892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Génération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Recommandations en français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</a:rPr>
              <a:t>Stack 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95C"/>
                </a:solidFill>
              </a:rPr>
              <a:t>OpenRouter API  •  meta-llama/llama-3.2-3b-instruct:free  •  Axios (Node.js)  •  Sécurité via .env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Résultats et Tests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Scénario 1 : Parking Vide</a:t>
            </a:r>
            <a:endParaRPr lang="en-US" sz="16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FFFFFF"/>
                </a:solidFill>
              </a:rPr>
              <a:t>Tous capteurs &gt; 10 cm</a:t>
            </a:r>
            <a:endParaRPr lang="en-US" sz="16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Places LIBRES • Barrière OUVERTE (si voiture)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7680960" cy="100584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Scénario 2 : Parking Plein</a:t>
            </a:r>
            <a:endParaRPr lang="en-US" sz="16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FFFFFF"/>
                </a:solidFill>
              </a:rPr>
              <a:t>Capteurs 1 et 2 &lt; 10 cm</a:t>
            </a:r>
            <a:endParaRPr lang="en-US" sz="16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Places OCCUPÉES • Barrière FERMÉE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474720"/>
            <a:ext cx="7680960" cy="1005840"/>
          </a:xfrm>
          <a:prstGeom prst="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Scénario 3 : Une Place Libre</a:t>
            </a:r>
            <a:endParaRPr lang="en-US" sz="16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FFFFFF"/>
                </a:solidFill>
              </a:rPr>
              <a:t>Capteur 1 &lt; 10 cm, Capteur 2 &gt; 10 cm</a:t>
            </a:r>
            <a:endParaRPr lang="en-US" sz="16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Place 1 OCCUPÉE • Place 2 LIBRE • Barrière OUVERTE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572000"/>
            <a:ext cx="768096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✓ Tests validés sur Wokwi  •  ✓ Données vérifiées dans MongoDB  •  ✓ Dashboard temps réel fonctionnel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Compétences Acquises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65760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Embarqué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</a:rPr>
              <a:t>ESP32 / Arduino C++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</a:rPr>
              <a:t>Capteurs ultrasoniques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</a:rPr>
              <a:t>Servo moteurs PWM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365760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Communication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</a:rPr>
              <a:t>Protocole MQTT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</a:rPr>
              <a:t>WiFi ESP32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</a:rPr>
              <a:t>Architecture Pub/Sub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365760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</a:rPr>
              <a:t>Node.js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</a:rPr>
              <a:t>MongoDB (NoSQL)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</a:rPr>
              <a:t>Redis (Cache)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65760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DevOps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691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</a:rPr>
              <a:t>Docker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</a:rPr>
              <a:t>Docker Compose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</a:rPr>
              <a:t>Orchestration services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365760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Frontend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2834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</a:rPr>
              <a:t>HTML/CSS/JS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</a:rPr>
              <a:t>Chart.js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</a:rPr>
              <a:t>WebSocket MQTT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3657600" cy="1371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Intelligence Artificielle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9776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</a:rPr>
              <a:t>RAG Architecture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</a:rPr>
              <a:t>LLM (Llama 3.2)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1295C"/>
                </a:solidFill>
              </a:rPr>
              <a:t>API OpenRouter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Perspectives et Améliorations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371600" cy="82296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Haute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128016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</a:rPr>
              <a:t>API REST pour historique MongoDB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</a:rPr>
              <a:t>LEDs rouge/vert indicateurs de places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371600" cy="822960"/>
          </a:xfrm>
          <a:prstGeom prst="rect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Moyenne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224028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</a:rPr>
              <a:t>Écran LCD affichant disponibilité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</a:rPr>
              <a:t>Notifications Telegram parking plein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371600" cy="8229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Basse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320040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</a:rPr>
              <a:t>Authentification sécurisée dashboard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</a:rPr>
              <a:t>Interface mobile dédiée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069080"/>
            <a:ext cx="1371600" cy="8229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0690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Future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416052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</a:rPr>
              <a:t>ML pour prédiction d'occupation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1295C"/>
                </a:solidFill>
              </a:rPr>
              <a:t>Déploiement cloud (AWS/Azure)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2C39A"/>
                </a:solidFill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20116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✓ Système IoT complet et fonctionnel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✓ Architecture scalable et moderne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✓ Technologies open-source performantes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✓ Base solide pour déploiement réel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✓ Intégration IA pour intelligence augmentée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0" y="4114800"/>
            <a:ext cx="5486400" cy="548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11680" y="42062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21295C"/>
                </a:solidFill>
              </a:rPr>
              <a:t>Démonstration de la fusion IoT, Cloud et Intelligence Artificielle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Merci pour votre attention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02C39A"/>
                </a:solidFill>
              </a:rPr>
              <a:t>Questions 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34747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Équipe Projet 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DRISSI Yassir • BOUSHABI Othmane • DHILOU Othmane • DBAB Mohamed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Encadrant : DEROUSSI Anass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EMSI – Génie Informatique – S8 – 2025/2026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1130</Words>
  <Application>Microsoft Office PowerPoint</Application>
  <PresentationFormat>Affichage à l'écran (16:9)</PresentationFormat>
  <Paragraphs>272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0" baseType="lpstr">
      <vt:lpstr>Arial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Parking IoT System</dc:title>
  <dc:subject>PptxGenJS Presentation</dc:subject>
  <dc:creator>DRISSI Yassir, BOUSHABI Othmane, DHILOU Othmane, DBAB Mohamed</dc:creator>
  <cp:lastModifiedBy>Othmane Boushabi</cp:lastModifiedBy>
  <cp:revision>2</cp:revision>
  <dcterms:created xsi:type="dcterms:W3CDTF">2026-04-27T16:02:11Z</dcterms:created>
  <dcterms:modified xsi:type="dcterms:W3CDTF">2026-04-27T16:06:16Z</dcterms:modified>
</cp:coreProperties>
</file>